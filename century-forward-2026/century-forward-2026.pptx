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509de80b34d59" /><Relationship Type="http://schemas.openxmlformats.org/officeDocument/2006/relationships/extended-properties" Target="/docProps/app.xml" Id="R58546cacb7d2406a" /><Relationship Type="http://schemas.openxmlformats.org/officeDocument/2006/relationships/officeDocument" Target="/ppt/presentation.xml" Id="R3aabd440ceac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aba9dab554e96"/>
  </p:sldMasterIdLst>
  <p:notesMasterIdLst>
    <p:notesMasterId xmlns:r="http://schemas.openxmlformats.org/officeDocument/2006/relationships" r:id="R411a73f86e9d4822"/>
  </p:notesMasterIdLst>
  <p:sldIdLst>
    <p:sldId xmlns:r="http://schemas.openxmlformats.org/officeDocument/2006/relationships" id="256" r:id="R063efd82f4f144a9"/>
    <p:sldId xmlns:r="http://schemas.openxmlformats.org/officeDocument/2006/relationships" id="257" r:id="Rc2a312cce2bb4e7a"/>
    <p:sldId xmlns:r="http://schemas.openxmlformats.org/officeDocument/2006/relationships" id="258" r:id="R189be6ac91dd4c69"/>
    <p:sldId xmlns:r="http://schemas.openxmlformats.org/officeDocument/2006/relationships" id="259" r:id="Rd861e02472d5477b"/>
    <p:sldId xmlns:r="http://schemas.openxmlformats.org/officeDocument/2006/relationships" id="260" r:id="R2e32e4aa373f4a68"/>
    <p:sldId xmlns:r="http://schemas.openxmlformats.org/officeDocument/2006/relationships" id="261" r:id="R7c30d2918a6040c8"/>
    <p:sldId xmlns:r="http://schemas.openxmlformats.org/officeDocument/2006/relationships" id="262" r:id="R36fff9fbca174669"/>
    <p:sldId xmlns:r="http://schemas.openxmlformats.org/officeDocument/2006/relationships" id="263" r:id="Rd878483618784c30"/>
    <p:sldId xmlns:r="http://schemas.openxmlformats.org/officeDocument/2006/relationships" id="264" r:id="R171155d5384a49c0"/>
    <p:sldId xmlns:r="http://schemas.openxmlformats.org/officeDocument/2006/relationships" id="265" r:id="R411d3c01b2254157"/>
    <p:sldId xmlns:r="http://schemas.openxmlformats.org/officeDocument/2006/relationships" id="266" r:id="R9eaf7ad48ddf44df"/>
    <p:sldId xmlns:r="http://schemas.openxmlformats.org/officeDocument/2006/relationships" id="267" r:id="R9232e1ffa0d34eb4"/>
    <p:sldId xmlns:r="http://schemas.openxmlformats.org/officeDocument/2006/relationships" id="268" r:id="R2aa8a829e4404e91"/>
    <p:sldId xmlns:r="http://schemas.openxmlformats.org/officeDocument/2006/relationships" id="269" r:id="R25fc0f1b66664c1f"/>
    <p:sldId xmlns:r="http://schemas.openxmlformats.org/officeDocument/2006/relationships" id="270" r:id="Rd7e240fe565242ae"/>
    <p:sldId xmlns:r="http://schemas.openxmlformats.org/officeDocument/2006/relationships" id="271" r:id="Rdbfe363c63054408"/>
    <p:sldId xmlns:r="http://schemas.openxmlformats.org/officeDocument/2006/relationships" id="272" r:id="Rbc91655d95154737"/>
    <p:sldId xmlns:r="http://schemas.openxmlformats.org/officeDocument/2006/relationships" id="273" r:id="Ra854e3903cd14576"/>
    <p:sldId xmlns:r="http://schemas.openxmlformats.org/officeDocument/2006/relationships" id="274" r:id="R0d96fda8e6364a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d27b856ed4620" /><Relationship Type="http://schemas.openxmlformats.org/officeDocument/2006/relationships/slideMaster" Target="/ppt/slideMasters/slideMaster1.xml" Id="R971aba9dab554e96" /><Relationship Type="http://schemas.openxmlformats.org/officeDocument/2006/relationships/notesMaster" Target="/ppt/notesMasters/notesMaster1.xml" Id="R411a73f86e9d4822" /><Relationship Type="http://schemas.openxmlformats.org/officeDocument/2006/relationships/presProps" Target="/ppt/presProps.xml" Id="Rf8da7c74915a472a" /><Relationship Type="http://schemas.openxmlformats.org/officeDocument/2006/relationships/tableStyles" Target="/ppt/tableStyles.xml" Id="R0d01491d5ea041e7" /><Relationship Type="http://schemas.openxmlformats.org/officeDocument/2006/relationships/slide" Target="/ppt/slides/slide1.xml" Id="R063efd82f4f144a9" /><Relationship Type="http://schemas.openxmlformats.org/officeDocument/2006/relationships/slide" Target="/ppt/slides/slide2.xml" Id="Rc2a312cce2bb4e7a" /><Relationship Type="http://schemas.openxmlformats.org/officeDocument/2006/relationships/slide" Target="/ppt/slides/slide3.xml" Id="R189be6ac91dd4c69" /><Relationship Type="http://schemas.openxmlformats.org/officeDocument/2006/relationships/slide" Target="/ppt/slides/slide4.xml" Id="Rd861e02472d5477b" /><Relationship Type="http://schemas.openxmlformats.org/officeDocument/2006/relationships/slide" Target="/ppt/slides/slide5.xml" Id="R2e32e4aa373f4a68" /><Relationship Type="http://schemas.openxmlformats.org/officeDocument/2006/relationships/slide" Target="/ppt/slides/slide6.xml" Id="R7c30d2918a6040c8" /><Relationship Type="http://schemas.openxmlformats.org/officeDocument/2006/relationships/slide" Target="/ppt/slides/slide7.xml" Id="R36fff9fbca174669" /><Relationship Type="http://schemas.openxmlformats.org/officeDocument/2006/relationships/slide" Target="/ppt/slides/slide8.xml" Id="Rd878483618784c30" /><Relationship Type="http://schemas.openxmlformats.org/officeDocument/2006/relationships/slide" Target="/ppt/slides/slide9.xml" Id="R171155d5384a49c0" /><Relationship Type="http://schemas.openxmlformats.org/officeDocument/2006/relationships/slide" Target="/ppt/slides/slide10.xml" Id="R411d3c01b2254157" /><Relationship Type="http://schemas.openxmlformats.org/officeDocument/2006/relationships/slide" Target="/ppt/slides/slide11.xml" Id="R9eaf7ad48ddf44df" /><Relationship Type="http://schemas.openxmlformats.org/officeDocument/2006/relationships/slide" Target="/ppt/slides/slide12.xml" Id="R9232e1ffa0d34eb4" /><Relationship Type="http://schemas.openxmlformats.org/officeDocument/2006/relationships/slide" Target="/ppt/slides/slide13.xml" Id="R2aa8a829e4404e91" /><Relationship Type="http://schemas.openxmlformats.org/officeDocument/2006/relationships/slide" Target="/ppt/slides/slide14.xml" Id="R25fc0f1b66664c1f" /><Relationship Type="http://schemas.openxmlformats.org/officeDocument/2006/relationships/slide" Target="/ppt/slides/slide15.xml" Id="Rd7e240fe565242ae" /><Relationship Type="http://schemas.openxmlformats.org/officeDocument/2006/relationships/slide" Target="/ppt/slides/slide16.xml" Id="Rdbfe363c63054408" /><Relationship Type="http://schemas.openxmlformats.org/officeDocument/2006/relationships/slide" Target="/ppt/slides/slide17.xml" Id="Rbc91655d95154737" /><Relationship Type="http://schemas.openxmlformats.org/officeDocument/2006/relationships/slide" Target="/ppt/slides/slide18.xml" Id="Ra854e3903cd14576" /><Relationship Type="http://schemas.openxmlformats.org/officeDocument/2006/relationships/slide" Target="/ppt/slides/slide19.xml" Id="R0d96fda8e6364a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314f3e51d45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IA Editorial">
      <a:dk1>
        <a:srgbClr val="000000"/>
      </a:dk1>
      <a:lt1>
        <a:srgbClr val="FFFFFF"/>
      </a:lt1>
      <a:dk2>
        <a:srgbClr val="17212B"/>
      </a:dk2>
      <a:lt2>
        <a:srgbClr val="D9DEDC"/>
      </a:lt2>
      <a:accent1>
        <a:srgbClr val="D7193F"/>
      </a:accent1>
      <a:accent2>
        <a:srgbClr val="17212B"/>
      </a:accent2>
      <a:accent3>
        <a:srgbClr val="F2A13B"/>
      </a:accent3>
      <a:accent4>
        <a:srgbClr val="1B8B73"/>
      </a:accent4>
      <a:accent5>
        <a:srgbClr val="7F9BC9"/>
      </a:accent5>
      <a:accent6>
        <a:srgbClr val="EF3154"/>
      </a:accent6>
      <a:hlink>
        <a:srgbClr val="D7193F"/>
      </a:hlink>
      <a:folHlink>
        <a:srgbClr val="EF315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52c04cf5c409c" /><Relationship Type="http://schemas.openxmlformats.org/officeDocument/2006/relationships/notesMaster" Target="/ppt/notesMasters/notesMaster1.xml" Id="Rfd6bf996cd99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1451dce1964506" /><Relationship Type="http://schemas.openxmlformats.org/officeDocument/2006/relationships/notesMaster" Target="/ppt/notesMasters/notesMaster1.xml" Id="R6bb9e2f1cca94b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4971772dbe429a" /><Relationship Type="http://schemas.openxmlformats.org/officeDocument/2006/relationships/notesMaster" Target="/ppt/notesMasters/notesMaster1.xml" Id="R360fd79df55442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10ef0df4b64aa6" /><Relationship Type="http://schemas.openxmlformats.org/officeDocument/2006/relationships/notesMaster" Target="/ppt/notesMasters/notesMaster1.xml" Id="R9b16e46a11494e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18d225fb474c73" /><Relationship Type="http://schemas.openxmlformats.org/officeDocument/2006/relationships/notesMaster" Target="/ppt/notesMasters/notesMaster1.xml" Id="Rabfa323e2ad340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623e4a072e4b28" /><Relationship Type="http://schemas.openxmlformats.org/officeDocument/2006/relationships/notesMaster" Target="/ppt/notesMasters/notesMaster1.xml" Id="R9bd4414beab54f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c424a779ac4bac" /><Relationship Type="http://schemas.openxmlformats.org/officeDocument/2006/relationships/notesMaster" Target="/ppt/notesMasters/notesMaster1.xml" Id="R7bc59b00153340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eeeda51d99492e" /><Relationship Type="http://schemas.openxmlformats.org/officeDocument/2006/relationships/notesMaster" Target="/ppt/notesMasters/notesMaster1.xml" Id="R5955871bdd0b4b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952f418c9a42a8" /><Relationship Type="http://schemas.openxmlformats.org/officeDocument/2006/relationships/notesMaster" Target="/ppt/notesMasters/notesMaster1.xml" Id="Rc7acd05ae42a4e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6dee11fb4c43aa" /><Relationship Type="http://schemas.openxmlformats.org/officeDocument/2006/relationships/notesMaster" Target="/ppt/notesMasters/notesMaster1.xml" Id="R1fc42d13704141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0fd230fd024b5e" /><Relationship Type="http://schemas.openxmlformats.org/officeDocument/2006/relationships/notesMaster" Target="/ppt/notesMasters/notesMaster1.xml" Id="R1c4fdf1e43e749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4909b656794050" /><Relationship Type="http://schemas.openxmlformats.org/officeDocument/2006/relationships/notesMaster" Target="/ppt/notesMasters/notesMaster1.xml" Id="Rf32ff69525aa42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65454ded244bd9" /><Relationship Type="http://schemas.openxmlformats.org/officeDocument/2006/relationships/notesMaster" Target="/ppt/notesMasters/notesMaster1.xml" Id="Ra80a6abd1cfd40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dca7b270fd4e28" /><Relationship Type="http://schemas.openxmlformats.org/officeDocument/2006/relationships/notesMaster" Target="/ppt/notesMasters/notesMaster1.xml" Id="R25a1a8c762d247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d59b2bb83948b6" /><Relationship Type="http://schemas.openxmlformats.org/officeDocument/2006/relationships/notesMaster" Target="/ppt/notesMasters/notesMaster1.xml" Id="R99b6aac47ccf4c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154452859f4c0e" /><Relationship Type="http://schemas.openxmlformats.org/officeDocument/2006/relationships/notesMaster" Target="/ppt/notesMasters/notesMaster1.xml" Id="R34c4cbbdea0d40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be6024e51348bc" /><Relationship Type="http://schemas.openxmlformats.org/officeDocument/2006/relationships/notesMaster" Target="/ppt/notesMasters/notesMaster1.xml" Id="R4827818571dc40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cb01a8cf794430" /><Relationship Type="http://schemas.openxmlformats.org/officeDocument/2006/relationships/notesMaster" Target="/ppt/notesMasters/notesMaster1.xml" Id="Rb66b113ac4394b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7db16a3cc94185" /><Relationship Type="http://schemas.openxmlformats.org/officeDocument/2006/relationships/notesMaster" Target="/ppt/notesMasters/notesMaster1.xml" Id="R21bf0496bcd142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 分钟。开场不要先介绍自己，先抛出问题：一家已经走过百年的公司，为什么仍值得年轻人认真看一眼？今天不讲情怀，主要看证据、空间和路径。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用户提供旧版PPT（上海天际线素材）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分钟。把“百年”从历史标签改写成选择标准：经历周期、保持增长、仍能创造个人机会。告诉听众，后面每一部分都会给证据。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分钟。用1919与2026建立时间纵深，然后立刻落到今天的规模。重点不是背数字，而是说明：跨市场、多周期、长期经营能力已经被验证。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https://www.aia.com/content/dam/group-wise/en/docs/investor-relations/2026/2025%20Annual%20Report%20%28Eng%29.pdf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 分钟。先解释VONB是寿险公司衡量新业务经济价值的核心指标，再看利润、现金与资本。四个维度同时成立，才叫高质量增长。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https://www.aia.com/en/media-centre/press-releases/2026/aia-group-press-release-20260319</a:t>
            </a:r>
          </a:p>
          <a:p xmlns:a="http://schemas.openxmlformats.org/drawingml/2006/main">
            <a:r>
              <a:t>- https://www.aia.com/content/dam/group-wise/en/docs/investor-relations/2026/2025%20Annual%20Report%20%28Eng%29.pdf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分钟。说明2025年不是偶然高点，2026年第一季度仍有增长动能。中国新地域的2030目标代表公司对未来市场的投入方向。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https://www.aia.com/en/media-centre/press-releases/2026/aia-group-press-release-20260430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分钟。强调保险需求来自人口、财富和保障结构，而不是某一款产品的短期热度。专业顾问的价值会随着问题复杂度上升。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AIA Group Annual Report 2025, p.13</a:t>
            </a:r>
          </a:p>
          <a:p xmlns:a="http://schemas.openxmlformats.org/drawingml/2006/main">
            <a:r>
              <a:t>- https://www.aia.com/content/dam/group-wise/en/docs/investor-relations/2026/2025%20Annual%20Report%20%28Eng%29.pdf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2.5 分钟。直接讲结构占比：香港与中国大陆合计贡献集团60%的新业务价值、58%的年化新保费。香港证明模式成熟度，中国大陆提供扩张空间，不再展开利润率口径。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- AIA Group Annual Report 2025, segmental new business performance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 分钟。这是整场最重要的“空间页”。不要把8.5倍讲成人均客户承诺，而要讲成专业服务覆盖密度的参照。香港与上海市场结构不同，本页用于理解空间，不作简单预测。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- 香港政府统计处、上海市统计局及友邦香港官方简介（详见用户网页）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 分钟。先承认行业代理人数量大幅减少，再指出分化：旧的人海模式收缩，专业化平台仍可能增长。数字采用不同截止年份，图中已明确，不要把它讲成严格同周期比较。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- 全国与上海市场监管/行业登记口径；友邦上海为内部趋势资料（详见用户网页）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2.5 分钟。回应“保险代理是不是旧职业”的疑问。渠道仍是增长引擎，但工作方式已经不同：数字工具处理流程，顾问把时间投入到需求理解、方案与长期服务。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AIA Group Annual Report 2025, pp.16–17</a:t>
            </a:r>
          </a:p>
          <a:p xmlns:a="http://schemas.openxmlformats.org/drawingml/2006/main">
            <a:r>
              <a:t>- https://www.aia.com/content/dam/group-wise/en/docs/investor-relations/2026/2025%20Annual%20Report%20%28Eng%29.pdf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1.5 分钟。这里不要讲完整履历，只讲三个观察。若由其他团队分享，可直接把“我的判断”替换为本团队讲者的一句话与三个观察。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用户提供旧版PPT（几何线稿素材）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2.5 分钟。把“加入公司”具体化。平台不是替你完成结果，而是降低建立信任、学习专业、经营流程和拓展职业边界的成本。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用户提供旧版PPT（友邦金融中心照片）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 分钟。先讲补贴的设计目的：帮助新人度过建立客户与工作节奏的起步期。柱状图拆分佣金与津贴，右侧只放6张示例，避免一次讲六套算式。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- 用户内部新人收入训练材料（经用户网页整理）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3 分钟。先看上海与全国的整体差异，再把重点放在M2/M3阶段：收入跃升反映团队规模和管理结果的放大效应。明确这是历史平均参考，不是个人承诺。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- 2025年友邦各职级月平均收入内部参考图（经用户网页整理）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分钟。适度筛选比强行说服更有力量。让听众感到这是一条有门槛、有责任、也有上限的职业路径。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 分钟。明确下一步，不要求现场做职业决定。请讲者在这里补充本团队实际可提供的访谈、测评或旁听安排。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 分钟。回扣开场：选择一家百年公司，不是回望历史，而是判断它是否仍有增长、是否还能给个人留下空间。停顿后结束。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用户提供旧版PPT（上海天际线素材）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问答备用页。定义以友邦公开财报及当地正式基本法为准。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https://www.aia.com/content/dam/group-wise/en/docs/investor-relations/2026/2025%20Annual%20Report%20%28Eng%29.pdf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问答备用页。对外正式使用前，建议由团队负责人核对最新基本法、收入示例和内部人力口径。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https://weiteliu123-cpu.github.io/basic-law-growth-deck/</a:t>
            </a:r>
          </a:p>
          <a:p xmlns:a="http://schemas.openxmlformats.org/drawingml/2006/main">
            <a:r>
              <a:t>- https://www.aia.com/en/media-centre/annual-reports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a1565b46548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9789d3cfa4dc2" /><Relationship Type="http://schemas.openxmlformats.org/officeDocument/2006/relationships/slideLayout" Target="/ppt/slideLayouts/slideLayout1.xml" Id="Rc27e386d249046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7e386d249046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IA Editorial">
      <a:dk1>
        <a:srgbClr val="000000"/>
      </a:dk1>
      <a:lt1>
        <a:srgbClr val="FFFFFF"/>
      </a:lt1>
      <a:dk2>
        <a:srgbClr val="17212B"/>
      </a:dk2>
      <a:lt2>
        <a:srgbClr val="D9DEDC"/>
      </a:lt2>
      <a:accent1>
        <a:srgbClr val="D7193F"/>
      </a:accent1>
      <a:accent2>
        <a:srgbClr val="17212B"/>
      </a:accent2>
      <a:accent3>
        <a:srgbClr val="F2A13B"/>
      </a:accent3>
      <a:accent4>
        <a:srgbClr val="1B8B73"/>
      </a:accent4>
      <a:accent5>
        <a:srgbClr val="7F9BC9"/>
      </a:accent5>
      <a:accent6>
        <a:srgbClr val="EF3154"/>
      </a:accent6>
      <a:hlink>
        <a:srgbClr val="D7193F"/>
      </a:hlink>
      <a:folHlink>
        <a:srgbClr val="EF315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1258bb3664886" /><Relationship Type="http://schemas.openxmlformats.org/officeDocument/2006/relationships/image" Target="/ppt/media/image.png" Id="R9d6eb98cd0b84ea4" /><Relationship Type="http://schemas.openxmlformats.org/officeDocument/2006/relationships/notesSlide" Target="/ppt/notesSlides/notesSlide1.xml" Id="R57a4ae203a0f43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36f8357174dbc" /><Relationship Type="http://schemas.openxmlformats.org/officeDocument/2006/relationships/notesSlide" Target="/ppt/notesSlides/notesSlide2.xml" Id="Rf9126afcffb94b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5010993944390" /><Relationship Type="http://schemas.openxmlformats.org/officeDocument/2006/relationships/notesSlide" Target="/ppt/notesSlides/notesSlide3.xml" Id="R47aa0a5e202b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d4730d8e94421" /><Relationship Type="http://schemas.openxmlformats.org/officeDocument/2006/relationships/notesSlide" Target="/ppt/notesSlides/notesSlide4.xml" Id="Rd52baebc0729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c6b051de14ecd" /><Relationship Type="http://schemas.openxmlformats.org/officeDocument/2006/relationships/notesSlide" Target="/ppt/notesSlides/notesSlide5.xml" Id="R3403c849876c45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ad170180d477d" /><Relationship Type="http://schemas.openxmlformats.org/officeDocument/2006/relationships/notesSlide" Target="/ppt/notesSlides/notesSlide6.xml" Id="R9c78da838a62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cc59cd8c4491" /><Relationship Type="http://schemas.openxmlformats.org/officeDocument/2006/relationships/chart" Target="/ppt/slides/charts/chart1.xml" Id="Rb36a9863312c41d9" /><Relationship Type="http://schemas.openxmlformats.org/officeDocument/2006/relationships/notesSlide" Target="/ppt/notesSlides/notesSlide7.xml" Id="R50a06c1a3e5348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3c9a3f57d4226" /><Relationship Type="http://schemas.openxmlformats.org/officeDocument/2006/relationships/chart" Target="/ppt/slides/charts/chart2.xml" Id="R3a8da0e29c5f47e1" /><Relationship Type="http://schemas.openxmlformats.org/officeDocument/2006/relationships/notesSlide" Target="/ppt/notesSlides/notesSlide8.xml" Id="R13de15d2303b46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4e7fc0c544e82" /><Relationship Type="http://schemas.openxmlformats.org/officeDocument/2006/relationships/chart" Target="/ppt/slides/charts/chart3.xml" Id="R67ce28f80d3b4e83" /><Relationship Type="http://schemas.openxmlformats.org/officeDocument/2006/relationships/notesSlide" Target="/ppt/notesSlides/notesSlide9.xml" Id="Rb9cadfa2df234f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15f2b9764453d" /><Relationship Type="http://schemas.openxmlformats.org/officeDocument/2006/relationships/chart" Target="/ppt/slides/charts/chart4.xml" Id="R03fca33d64664c0c" /><Relationship Type="http://schemas.openxmlformats.org/officeDocument/2006/relationships/notesSlide" Target="/ppt/notesSlides/notesSlide10.xml" Id="R950bb5429efc43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56f00c8df47fd" /><Relationship Type="http://schemas.openxmlformats.org/officeDocument/2006/relationships/image" Target="/ppt/media/image2.png" Id="R531d0dfac229455d" /><Relationship Type="http://schemas.openxmlformats.org/officeDocument/2006/relationships/notesSlide" Target="/ppt/notesSlides/notesSlide11.xml" Id="Rf41bdb6c22f84f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2295c2bfd4a90" /><Relationship Type="http://schemas.openxmlformats.org/officeDocument/2006/relationships/image" Target="/ppt/media/image.jpeg" Id="R28953c3e86a6486b" /><Relationship Type="http://schemas.openxmlformats.org/officeDocument/2006/relationships/notesSlide" Target="/ppt/notesSlides/notesSlide12.xml" Id="R6ad27f8556f44a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9c71b39cf4fa7" /><Relationship Type="http://schemas.openxmlformats.org/officeDocument/2006/relationships/chart" Target="/ppt/slides/charts/chart5.xml" Id="R198ad4f7ea3b4837" /><Relationship Type="http://schemas.openxmlformats.org/officeDocument/2006/relationships/notesSlide" Target="/ppt/notesSlides/notesSlide13.xml" Id="Rbef5e5eccf564a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41d11acf64246" /><Relationship Type="http://schemas.openxmlformats.org/officeDocument/2006/relationships/chart" Target="/ppt/slides/charts/chart6.xml" Id="Rcbcd8156fb4d4293" /><Relationship Type="http://schemas.openxmlformats.org/officeDocument/2006/relationships/notesSlide" Target="/ppt/notesSlides/notesSlide14.xml" Id="Rf526dbb0a05a4a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8e4a047844bb1" /><Relationship Type="http://schemas.openxmlformats.org/officeDocument/2006/relationships/notesSlide" Target="/ppt/notesSlides/notesSlide15.xml" Id="R54b8ea0f52d645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b6b08b25748f7" /><Relationship Type="http://schemas.openxmlformats.org/officeDocument/2006/relationships/notesSlide" Target="/ppt/notesSlides/notesSlide16.xml" Id="R280d8bac472743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dcdbb0e8b4d68" /><Relationship Type="http://schemas.openxmlformats.org/officeDocument/2006/relationships/image" Target="/ppt/media/image3.png" Id="Rf7bb8c2aaf2e4dd0" /><Relationship Type="http://schemas.openxmlformats.org/officeDocument/2006/relationships/notesSlide" Target="/ppt/notesSlides/notesSlide17.xml" Id="R4536b84a21224c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47e40bdc4b9c" /><Relationship Type="http://schemas.openxmlformats.org/officeDocument/2006/relationships/notesSlide" Target="/ppt/notesSlides/notesSlide18.xml" Id="Raae39c6e6abd48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735d3425646c4" /><Relationship Type="http://schemas.openxmlformats.org/officeDocument/2006/relationships/notesSlide" Target="/ppt/notesSlides/notesSlide19.xml" Id="Rfb84a1b3c3bc4b3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香港 39%</c:v>
          </c:tx>
          <c:spPr>
            <a:solidFill xmlns:a="http://schemas.openxmlformats.org/drawingml/2006/main">
              <a:srgbClr val="17212B"/>
            </a:solidFill>
          </c:spPr>
          <c:cat>
            <c:strLit>
              <c:ptCount val="1"/>
              <c:pt idx="0">
                <c:v>集团 VONB</c:v>
              </c:pt>
            </c:strLit>
          </c:cat>
          <c:val>
            <c:numLit>
              <c:formatCode>General</c:formatCode>
              <c:ptCount val="1"/>
              <c:pt idx="0">
                <c:v>39</c:v>
              </c:pt>
            </c:numLit>
          </c:val>
        </c:ser>
        <c:ser>
          <c:idx val="1"/>
          <c:order val="1"/>
          <c:tx>
            <c:v>中国大陆 21%</c:v>
          </c:tx>
          <c:spPr>
            <a:solidFill xmlns:a="http://schemas.openxmlformats.org/drawingml/2006/main">
              <a:srgbClr val="D7193F"/>
            </a:solidFill>
          </c:spPr>
          <c:cat>
            <c:strLit>
              <c:ptCount val="1"/>
              <c:pt idx="0">
                <c:v>集团 VONB</c:v>
              </c:pt>
            </c:strLit>
          </c:cat>
          <c:val>
            <c:numLit>
              <c:formatCode>General</c:formatCode>
              <c:ptCount val="1"/>
              <c:pt idx="0">
                <c:v>21</c:v>
              </c:pt>
            </c:numLit>
          </c:val>
        </c:ser>
        <c:ser>
          <c:idx val="2"/>
          <c:order val="2"/>
          <c:tx>
            <c:v>其他市场 40%</c:v>
          </c:tx>
          <c:spPr>
            <a:solidFill xmlns:a="http://schemas.openxmlformats.org/drawingml/2006/main">
              <a:srgbClr val="66727D"/>
            </a:solidFill>
          </c:spPr>
          <c:cat>
            <c:strLit>
              <c:ptCount val="1"/>
              <c:pt idx="0">
                <c:v>集团 VONB</c:v>
              </c:pt>
            </c:strLit>
          </c:cat>
          <c:val>
            <c:numLit>
              <c:formatCode>General</c:formatCode>
              <c:ptCount val="1"/>
              <c:pt idx="0">
                <c:v>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B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每名友邦代理人对应人口</c:v>
          </c:tx>
          <c:spPr>
            <a:solidFill xmlns:a="http://schemas.openxmlformats.org/drawingml/2006/main">
              <a:srgbClr val="D7193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721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7193F"/>
              </a:solidFill>
            </c:spPr>
          </c:dPt>
          <c:cat>
            <c:strLit>
              <c:ptCount val="2"/>
              <c:pt idx="0">
                <c:v>香港</c:v>
              </c:pt>
              <c:pt idx="1">
                <c:v>上海</c:v>
              </c:pt>
            </c:strLit>
          </c:cat>
          <c:val>
            <c:numLit>
              <c:formatCode>General</c:formatCode>
              <c:ptCount val="2"/>
              <c:pt idx="0">
                <c:v>417</c:v>
              </c:pt>
              <c:pt idx="1">
                <c:v>3550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12B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2019=100</c:v>
          </c:tx>
          <c:spPr>
            <a:solidFill xmlns:a="http://schemas.openxmlformats.org/drawingml/2006/main">
              <a:srgbClr val="D7193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6727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7212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7193F"/>
              </a:solidFill>
            </c:spPr>
          </c:dPt>
          <c:cat>
            <c:strLit>
              <c:ptCount val="3"/>
              <c:pt idx="0">
                <c:v>全国代理人</c:v>
              </c:pt>
              <c:pt idx="1">
                <c:v>上海市场</c:v>
              </c:pt>
              <c:pt idx="2">
                <c:v>友邦上海</c:v>
              </c:pt>
            </c:strLit>
          </c:cat>
          <c:val>
            <c:numLit>
              <c:formatCode>General</c:formatCode>
              <c:ptCount val="3"/>
              <c:pt idx="0">
                <c:v>29</c:v>
              </c:pt>
              <c:pt idx="1">
                <c:v>57</c:v>
              </c:pt>
              <c:pt idx="2">
                <c:v>139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VONB贡献</c:v>
          </c:tx>
          <c:dPt>
            <c:idx val="0"/>
            <c:spPr>
              <a:solidFill xmlns:a="http://schemas.openxmlformats.org/drawingml/2006/main">
                <a:srgbClr val="D7193F"/>
              </a:solidFill>
            </c:spPr>
          </c:dPt>
          <c:dPt>
            <c:idx val="1"/>
            <c:spPr>
              <a:solidFill xmlns:a="http://schemas.openxmlformats.org/drawingml/2006/main">
                <a:srgbClr val="46515A"/>
              </a:solidFill>
            </c:spPr>
          </c:dPt>
          <c:cat>
            <c:strLit>
              <c:ptCount val="2"/>
              <c:pt idx="0">
                <c:v>代理渠道</c:v>
              </c:pt>
              <c:pt idx="1">
                <c:v>其他渠道</c:v>
              </c:pt>
            </c:strLit>
          </c:cat>
          <c:val>
            <c:numLit>
              <c:formatCode>General</c:formatCode>
              <c:ptCount val="2"/>
              <c:pt idx="0">
                <c:v>73</c:v>
              </c:pt>
              <c:pt idx="1">
                <c:v>27</c:v>
              </c:pt>
            </c:numLit>
          </c:val>
        </c:ser>
        <c:holeSize val="68"/>
      </c:doughnutChart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佣金</c:v>
          </c:tx>
          <c:spPr>
            <a:solidFill xmlns:a="http://schemas.openxmlformats.org/drawingml/2006/main">
              <a:srgbClr val="17212B"/>
            </a:solidFill>
          </c:spPr>
          <c:cat>
            <c:strLit>
              <c:ptCount val="6"/>
              <c:pt idx="0">
                <c:v>1张</c:v>
              </c:pt>
              <c:pt idx="1">
                <c:v>2张</c:v>
              </c:pt>
              <c:pt idx="2">
                <c:v>3张</c:v>
              </c:pt>
              <c:pt idx="3">
                <c:v>4张</c:v>
              </c:pt>
              <c:pt idx="4">
                <c:v>5张</c:v>
              </c:pt>
              <c:pt idx="5">
                <c:v>6张</c:v>
              </c:pt>
            </c:strLit>
          </c:cat>
          <c:val>
            <c:numLit>
              <c:formatCode>0.0</c:formatCode>
              <c:ptCount val="6"/>
              <c:pt idx="0">
                <c:v>0.3</c:v>
              </c:pt>
              <c:pt idx="1">
                <c:v>0.6</c:v>
              </c:pt>
              <c:pt idx="2">
                <c:v>0.9</c:v>
              </c:pt>
              <c:pt idx="3">
                <c:v>1.2</c:v>
              </c:pt>
              <c:pt idx="4">
                <c:v>1.5</c:v>
              </c:pt>
              <c:pt idx="5">
                <c:v>1.8</c:v>
              </c:pt>
            </c:numLit>
          </c:val>
        </c:ser>
        <c:ser>
          <c:idx val="1"/>
          <c:order val="1"/>
          <c:tx>
            <c:v>新人津贴</c:v>
          </c:tx>
          <c:spPr>
            <a:solidFill xmlns:a="http://schemas.openxmlformats.org/drawingml/2006/main">
              <a:srgbClr val="D7193F"/>
            </a:solidFill>
          </c:spPr>
          <c:cat>
            <c:strLit>
              <c:ptCount val="6"/>
              <c:pt idx="0">
                <c:v>1张</c:v>
              </c:pt>
              <c:pt idx="1">
                <c:v>2张</c:v>
              </c:pt>
              <c:pt idx="2">
                <c:v>3张</c:v>
              </c:pt>
              <c:pt idx="3">
                <c:v>4张</c:v>
              </c:pt>
              <c:pt idx="4">
                <c:v>5张</c:v>
              </c:pt>
              <c:pt idx="5">
                <c:v>6张</c:v>
              </c:pt>
            </c:strLit>
          </c:cat>
          <c:val>
            <c:numLit>
              <c:formatCode>0.0</c:formatCode>
              <c:ptCount val="6"/>
              <c:pt idx="0">
                <c:v>0.4</c:v>
              </c:pt>
              <c:pt idx="1">
                <c:v>0.6</c:v>
              </c:pt>
              <c:pt idx="2">
                <c:v>1</c:v>
              </c:pt>
              <c:pt idx="3">
                <c:v>1.5</c:v>
              </c:pt>
              <c:pt idx="4">
                <c:v>1.5</c:v>
              </c:pt>
              <c:pt idx="5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.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B"/>
              </a:solidFill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全国月均收入</c:v>
          </c:tx>
          <c:spPr>
            <a:solidFill xmlns:a="http://schemas.openxmlformats.org/drawingml/2006/main">
              <a:srgbClr val="7F9BC9"/>
            </a:solidFill>
          </c:spPr>
          <c:cat>
            <c:strLit>
              <c:ptCount val="7"/>
              <c:pt idx="0">
                <c:v>A1</c:v>
              </c:pt>
              <c:pt idx="1">
                <c:v>A2</c:v>
              </c:pt>
              <c:pt idx="2">
                <c:v>A3</c:v>
              </c:pt>
              <c:pt idx="3">
                <c:v>AM</c:v>
              </c:pt>
              <c:pt idx="4">
                <c:v>M1</c:v>
              </c:pt>
              <c:pt idx="5">
                <c:v>M2</c:v>
              </c:pt>
              <c:pt idx="6">
                <c:v>M3</c:v>
              </c:pt>
            </c:strLit>
          </c:cat>
          <c:val>
            <c:numLit>
              <c:formatCode>General</c:formatCode>
              <c:ptCount val="7"/>
              <c:pt idx="0">
                <c:v>3.2</c:v>
              </c:pt>
              <c:pt idx="1">
                <c:v>4.8</c:v>
              </c:pt>
              <c:pt idx="2">
                <c:v>6.2</c:v>
              </c:pt>
              <c:pt idx="3">
                <c:v>7.7</c:v>
              </c:pt>
              <c:pt idx="4">
                <c:v>11.2</c:v>
              </c:pt>
              <c:pt idx="5">
                <c:v>29.5</c:v>
              </c:pt>
              <c:pt idx="6">
                <c:v>32</c:v>
              </c:pt>
            </c:numLit>
          </c:val>
        </c:ser>
        <c:ser>
          <c:idx val="1"/>
          <c:order val="1"/>
          <c:tx>
            <c:v>上海月均收入</c:v>
          </c:tx>
          <c:spPr>
            <a:solidFill xmlns:a="http://schemas.openxmlformats.org/drawingml/2006/main">
              <a:srgbClr val="D7193F"/>
            </a:solidFill>
          </c:spPr>
          <c:cat>
            <c:strLit>
              <c:ptCount val="7"/>
              <c:pt idx="0">
                <c:v>A1</c:v>
              </c:pt>
              <c:pt idx="1">
                <c:v>A2</c:v>
              </c:pt>
              <c:pt idx="2">
                <c:v>A3</c:v>
              </c:pt>
              <c:pt idx="3">
                <c:v>AM</c:v>
              </c:pt>
              <c:pt idx="4">
                <c:v>M1</c:v>
              </c:pt>
              <c:pt idx="5">
                <c:v>M2</c:v>
              </c:pt>
              <c:pt idx="6">
                <c:v>M3</c:v>
              </c:pt>
            </c:strLit>
          </c:cat>
          <c:val>
            <c:numLit>
              <c:formatCode>General</c:formatCode>
              <c:ptCount val="7"/>
              <c:pt idx="0">
                <c:v>3.8</c:v>
              </c:pt>
              <c:pt idx="1">
                <c:v>6</c:v>
              </c:pt>
              <c:pt idx="2">
                <c:v>7.8</c:v>
              </c:pt>
              <c:pt idx="3">
                <c:v>10.6</c:v>
              </c:pt>
              <c:pt idx="4">
                <c:v>15.2</c:v>
              </c:pt>
              <c:pt idx="5">
                <c:v>38</c:v>
              </c:pt>
              <c:pt idx="6">
                <c:v>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4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B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eb98cd0b84ea4"/>
          <a:srcRect xmlns:a="http://schemas.openxmlformats.org/drawingml/2006/main" l="23047" t="0" r="23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28EEB-6004-4A2C-89A1-86770FDC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3F281-C4FC-4958-A49B-E85762AF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BA9F6-EFA6-4AFE-AD87-83ACD751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6E0E4-E186-45D8-A0A1-3CB5932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越过百年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再望前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07A5A-FA08-42D0-933E-4A257AF2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0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0E4"/>
                </a:solidFill>
                <a:latin typeface="Microsoft YaHei"/>
                <a:ea typeface="Microsoft YaHei"/>
                <a:cs typeface="Microsoft YaHei"/>
              </a:rPr>
              <a:t>为什么此刻，仍值得加入一家百年公司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91029-1716-4157-A183-4C06C69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rPr>
              <a:t>AIA 2025 年报 × 2026 增长机会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19056-3173-41E8-B0F9-E7E93022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刘维特  Werther Liu</a:t>
            </a:r>
          </a:p>
        </p:txBody>
      </p:sp>
    </p:spTree>
    <p:extLst>
      <p:ext uri="{BB962C8B-B14F-4D97-AF65-F5344CB8AC3E}">
        <p14:creationId xmlns:p14="http://schemas.microsoft.com/office/powerpoint/2010/main" val="1777905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6E976-4970-4A40-9351-7BD23CDB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80280-A84B-4178-9ABE-021185C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今天只回答一个问题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1238D-DDC2-40D3-9E46-BCE8EAF4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52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百年之后，</a:t>
            </a:r>
          </a:p>
          <a:p xmlns:a="http://schemas.openxmlformats.org/drawingml/2006/main">
            <a:pPr algn="l">
              <a:defRPr sz="4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为什么还值得加入？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51083-4E7E-4C59-B73A-A94B4FB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AD44F-D005-4A12-BCF1-C4763DD3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因为真正稀缺的，不是“老公司”，而是 </a:t>
            </a:r>
            <a:r>
              <a:rPr sz="22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经过周期验证、仍在增长、还能给个人留下空间</a:t>
            </a:r>
            <a:r>
              <a:rPr sz="22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的公司。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E11FC-71F7-4CD6-A1DC-1F27D4DC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今天的判断路径：公司确定性  →  市场空间  →  职业平台  →  组织未来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14AC5-D1EA-46EE-81DC-36924DE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3980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9A74A-BC4B-4B00-9DAC-452261A9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01 / COMPANY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12229-9244-4377-A821-3F844930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107 年，真正留下的是穿越周期的能力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0F47F-8E30-4566-8DC1-278462AA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43197-A814-4288-A79A-B4CAC914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57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1919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E6793-E88C-4310-AB93-E30B7740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起源于上海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7F9C5-6CAE-466E-85B8-5639973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2694E-6A4D-4634-8531-7468EF4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84"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570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B3A9F-DA28-4F9D-912D-1FA4724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仍在扩张与升级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9884F-B56E-4BAD-8F37-369B67F9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26490-68B8-4514-AE24-47A80030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个亚洲市场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3A435-46B4-4812-AD97-5BF00C53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3,450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A2187-2058-4BD3-B7B1-835F6E3A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3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亿美元总资产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F69A7-D7CF-4878-84A4-A4234A2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10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4,400万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2AF80-8328-45E2-9A74-EC9BB693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3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个人客户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3B3AA-FDC5-4380-9472-2001FE18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10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1,600万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35897-5124-466A-8E59-DF64136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团险成员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C89F8-6C26-42DE-ACAF-C0363434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百年不是终点，它只是证明：这套商业模式经得起时间。</a:t>
            </a:r>
          </a:p>
        </p:txBody>
      </p:sp>
    </p:spTree>
    <p:extLst>
      <p:ext uri="{BB962C8B-B14F-4D97-AF65-F5344CB8AC3E}">
        <p14:creationId xmlns:p14="http://schemas.microsoft.com/office/powerpoint/2010/main" val="1911967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DC63D-AE7B-4339-A546-65693F83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3DA"/>
                </a:solidFill>
                <a:latin typeface="Microsoft YaHei"/>
                <a:ea typeface="Microsoft YaHei"/>
                <a:cs typeface="Microsoft YaHei"/>
              </a:rPr>
              <a:t>2025 GROUP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E797B-A9BE-4F2F-BE30-BF18090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2025：增长、盈利与现金创造同时成立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6A45E-A4F3-4E84-AEAE-E2797F44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CF69F-2230-4930-A036-FB38C8CF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B998A-91B4-455D-80B9-805E3221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55.16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E43AE-B24D-4D7E-B8F8-6A1AA27A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亿美元 · 新业务价值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C79B-B58D-4365-9A8B-76421913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rPr>
              <a:t>同比增长 15%，创历史新高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D9102-A5F1-45A4-A9AA-FA707F4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4CFFC-3B7E-4D9B-B6BB-483F502C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431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71.36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51663-7F92-4808-AB7A-E5F9B817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亿美元 · 税后营运溢利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A12D1-1F26-4FF0-9EFE-318DA293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rPr>
              <a:t>每股同比增长 12%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4A5D7-85DB-427C-8266-71CA3DE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B9E15-DCF7-4AFC-9336-984136A5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67.65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AF57F-EB09-4E03-A9C8-93ACEA12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05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亿美元 · 基础自由盈余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7A60B-CDC8-4200-9438-703598BD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rPr>
              <a:t>每股同比增长 11%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04279-0A4B-4297-A2F7-C4C183B2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35598-6FB2-4F04-8B3D-C826EC7D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221%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75C79-2B85-45D1-9085-E7EBCF2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05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股东资本比率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D9103-D185-4A75-88D9-8970AA26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rPr>
              <a:t>资本实力支持继续投资增长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96347-0264-426A-8CC2-B45F3C74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8FCE5-38A8-4072-8364-87CA507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一家百年公司仍能交出两位数增长，说明它并不是靠历史活着。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0578A-5647-46A3-BB02-BDD5394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rPr>
              <a:t>VONB = Value of New Business，新业务价值</a:t>
            </a:r>
          </a:p>
        </p:txBody>
      </p:sp>
    </p:spTree>
    <p:extLst>
      <p:ext uri="{BB962C8B-B14F-4D97-AF65-F5344CB8AC3E}">
        <p14:creationId xmlns:p14="http://schemas.microsoft.com/office/powerpoint/2010/main" val="1903002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A7F87-7983-48A3-BCCB-84DDC27E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2026 Q1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3B636-D319-4C2B-88BE-2E745791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年报之后，增长没有停在报表里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8428A-186E-4B76-986D-A3D0DC5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EACCB-FBD5-4EB4-8882-A7DAA3AD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720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+13%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2814D-1664-4F79-82D3-662D410E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2026 年第一季度</a:t>
            </a:r>
          </a:p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集团新业务价值增长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0125B-A095-4682-B5F7-4D0B0B4F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6A637-CC76-43BB-8717-B2A78018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72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72B5C-E323-4FD7-93AE-62C4B387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友邦中国新地域 VONB</a:t>
            </a:r>
          </a:p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至 2030 年复合增长目标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82FC3-7A12-402D-A6A6-D6CB96A3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以 2025 年为基期；按固定汇率、经济假设变化前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9E478-7DE4-4159-A979-C2F6AB3C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85C5C-D591-4FA2-A33D-0B1D26CD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真正的机会，不在“已经做成了什么”，而在“接下来准备把什么做大”。</a:t>
            </a:r>
          </a:p>
        </p:txBody>
      </p:sp>
    </p:spTree>
    <p:extLst>
      <p:ext uri="{BB962C8B-B14F-4D97-AF65-F5344CB8AC3E}">
        <p14:creationId xmlns:p14="http://schemas.microsoft.com/office/powerpoint/2010/main" val="1069177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A80A7-0304-4DF8-B139-1796B49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WHY ASIA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5FCBF-F36C-4822-A08C-CE73E67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亚洲的四个长期变量，会持续放大专业保障需求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720E6-DFDA-450B-A7CF-EF54CA28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AA3CE-8DA2-4A27-9EA7-2638765F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50425-0447-449E-87EB-3B36C57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20BF2-9286-4BCB-8B08-0EC65461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人口与老龄化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29E21-8C79-43E7-AD11-22F42282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寿命延长，退休、医疗与长期照护需求上升。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DE2A8-976A-4F3B-8351-3CFB1013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89BB4-BFFC-40E5-A29D-662CEB03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2F966-7EE1-4F3C-A875-439197DD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财富增长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E7652-72F7-43D5-9B44-FDACCC0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家庭资产增加，保障、传承与长期储蓄更复杂。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85E0C-907E-4003-B9E8-64E2BE79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8A581-36F5-4CF0-953C-8A5AEF69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19BC3-A4BA-454B-8168-5D73572E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保障缺口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19674-E5DF-41FF-AD0D-8B01434E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私人保险渗透仍低，商业保障仍有补位空间。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2A257-A5EC-4B68-AFD3-3812A1F8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BD839-F5D5-4EE8-82AE-1E9B1F13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D2661-0127-425F-A6FE-AD61701A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专业顾问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19F98-0CDC-4D6E-9C41-4F116670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复杂决策更依赖长期服务与个性化规划。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4323F-94DE-42B5-A408-3E41D41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这些不是一两年的行情，而是十年以上的结构变化。</a:t>
            </a:r>
          </a:p>
        </p:txBody>
      </p:sp>
    </p:spTree>
    <p:extLst>
      <p:ext uri="{BB962C8B-B14F-4D97-AF65-F5344CB8AC3E}">
        <p14:creationId xmlns:p14="http://schemas.microsoft.com/office/powerpoint/2010/main" val="600573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98105-8CBA-4C79-81F5-F96AB429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MARKET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B8FFD-E093-4896-B4DD-AEA23B6F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集团增长的两大支点：香港成熟，大陆扩张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BDE3F-6ED5-471D-A39A-39B5203E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025DF-5673-4D39-87E3-7D29F40D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2025 新业务价值结构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69532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6a9863312c41d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331A7-EFC2-45FD-A1DD-F8285968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540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60%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7A6BC-7F47-49E0-8781-42142E6B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香港 + 中国大陆</a:t>
            </a:r>
          </a:p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合计贡献集团 VONB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0FBDB-4FD7-41D1-8E8D-4DB3636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58%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FCB91-5F54-4327-8BF6-49B9B5FC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香港 + 中国大陆</a:t>
            </a:r>
          </a:p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合计贡献集团 ANP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456C9-8DEB-4880-B7EC-69DCB2E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VONB：39% + 21%　｜　ANP：35% + 23%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DF0AA-3797-43C0-989C-048447BD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一个证明成熟度，一个承接增长空间。</a:t>
            </a:r>
          </a:p>
        </p:txBody>
      </p:sp>
    </p:spTree>
    <p:extLst>
      <p:ext uri="{BB962C8B-B14F-4D97-AF65-F5344CB8AC3E}">
        <p14:creationId xmlns:p14="http://schemas.microsoft.com/office/powerpoint/2010/main" val="1962133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DBD92-0A75-4F82-A5F8-92884659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HONG KONG × SHANGHAI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4F6C7-89A3-4257-A05C-658381E4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同为国际金融中心，服务密度相差约 8.5 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D5DF2-EDA7-4299-B626-F40D9D8D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8da0e29c5f47e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89095-3F31-4859-B865-C7E7F7A0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8.5×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42426-0399-4C1F-B1C3-7EF6D889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服务密度差距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0747B-3483-4AB0-9F91-FA95C450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10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不是客户不够，</a:t>
            </a:r>
          </a:p>
          <a:p xmlns:a="http://schemas.openxmlformats.org/drawingml/2006/main">
            <a:pPr algn="ctr">
              <a:def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而是专业服务覆盖仍然不足。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1BF79-144C-4521-8ECC-D1FB8A32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香港约 18,000 名友邦代理人；上海 7,000+ 名。口径采用用户年度报告网页整理。</a:t>
            </a:r>
          </a:p>
        </p:txBody>
      </p:sp>
    </p:spTree>
    <p:extLst>
      <p:ext uri="{BB962C8B-B14F-4D97-AF65-F5344CB8AC3E}">
        <p14:creationId xmlns:p14="http://schemas.microsoft.com/office/powerpoint/2010/main" val="1467202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BD94D-BD58-40B2-99A5-0EE93876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THE REAL DIVERGENCE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7CEE3-0121-44A3-9B88-1B2029C4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行业在减量，专业化平台反而在增长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BEACA-27C5-46C2-A037-4FC4383D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ce28f80d3b4e8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C2883-1810-4A9B-ACBB-93BB6274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2019 =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8F068-7B08-4C4C-AB09-6820B705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6727D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66727D"/>
                </a:solidFill>
                <a:latin typeface="Georgia"/>
                <a:ea typeface="Georgia"/>
                <a:cs typeface="Georgia"/>
              </a:rPr>
              <a:t>-71%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0ACF2-9211-4741-8334-2E85EE28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全国 2019–2024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123AE-1E34-4267-96B3-9A529331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-43%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FC511-73E3-4741-9D2D-0624C92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上海 2019–2024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DD335-7E32-4205-92AC-E41DC4C7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+39%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77BAD-EE34-43CF-99E8-7AB60475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友邦上海 2019–2025</a:t>
            </a:r>
          </a:p>
        </p:txBody>
      </p:sp>
    </p:spTree>
    <p:extLst>
      <p:ext uri="{BB962C8B-B14F-4D97-AF65-F5344CB8AC3E}">
        <p14:creationId xmlns:p14="http://schemas.microsoft.com/office/powerpoint/2010/main" val="1518956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DA54B-A702-49D5-806F-D2A6AD2E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D3DA"/>
                </a:solidFill>
                <a:latin typeface="Microsoft YaHei"/>
                <a:ea typeface="Microsoft YaHei"/>
                <a:cs typeface="Microsoft YaHei"/>
              </a:rPr>
              <a:t>AGENCY × DIGITAL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ABBB7-AAD6-4428-B35F-39824EBD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代理渠道不是旧模式，它正在被数字化重新武装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7C2A8-2B40-4D20-8422-128992BA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371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fca33d64664c0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44759-21AE-49BE-98FD-DAD0D96B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337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E3D35-F4EB-4B96-A189-FCE65C52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集团 VONB 来自代理渠道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C3520-637E-4187-90A4-E7822654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60E25-5C0E-4D7A-95E2-4B612F7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2,300 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841EA-E546-421A-A9B0-9B7D0425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AIA+ 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CBA0D-BAB0-4C6F-9F39-C3E15FE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rPr>
              <a:t>客户连接与健康生态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9FBCC-B376-4304-816D-8C6820F7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42377-CE9C-466E-A529-D379AB1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284EA-37CC-487F-810B-49A01571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交易数字化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4C7EC-DBDE-418D-8FDB-784D884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rPr>
              <a:t>流程效率与服务体验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0FBBB-630C-4744-9FDD-9BB3147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83E72-C3E3-461C-96F5-CD601AE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1EA92-B627-4EAA-B476-FDC6B5A7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销售流程数字化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8994A-5B19-4136-8C69-71BACAE0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24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C4CA"/>
                </a:solidFill>
                <a:latin typeface="Microsoft YaHei"/>
                <a:ea typeface="Microsoft YaHei"/>
                <a:cs typeface="Microsoft YaHei"/>
              </a:rPr>
              <a:t>专业顾问背后的经营基础设施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AAA4F-935E-4F7E-999F-D51FC4B2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3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D3DA"/>
                </a:solidFill>
                <a:latin typeface="Microsoft YaHei"/>
                <a:ea typeface="Microsoft YaHei"/>
                <a:cs typeface="Microsoft YaHei"/>
              </a:rPr>
              <a:t>连续第 11 年全球 MDRT 会员人数第一</a:t>
            </a:r>
          </a:p>
        </p:txBody>
      </p:sp>
    </p:spTree>
    <p:extLst>
      <p:ext uri="{BB962C8B-B14F-4D97-AF65-F5344CB8AC3E}">
        <p14:creationId xmlns:p14="http://schemas.microsoft.com/office/powerpoint/2010/main" val="2040078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AB76D-A41D-4C00-91EC-FE19C1AD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SPEAKER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2CB40-443B-42EE-A0EA-AA6B6EE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我的判断，只占这一页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8AC53-79F0-4280-88DB-EAA44E8D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d0dfac229455d"/>
          <a:stretch xmlns:a="http://schemas.openxmlformats.org/drawingml/2006/main"/>
        </p:blipFill>
        <p:spPr>
          <a:xfrm xmlns:a="http://schemas.openxmlformats.org/drawingml/2006/main">
            <a:off x="7239000" y="1628696"/>
            <a:ext cx="4095750" cy="37911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EDC23-428F-4D0B-8B40-F42C2AF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77B8C-D912-421F-A293-B055BF83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市场没有消失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D713A-2733-4AAD-8EC3-4D594BB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客户需要正在变复杂，专业服务的价值上升。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50E95-305E-48E5-A3AB-373669BE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B0C9E-18FD-4409-A039-E6026AD6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门槛正在提高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2F2C7-67EA-4B67-BDDB-7B1F896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行业出清之后，训练、平台和自律更重要。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2B319-8F94-4177-BDA6-1B0B22D2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C2728-23A4-4F28-9289-CEA2F8B7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个人必须组织化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60713-EF19-4C45-9423-7B13206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个人高产有上限，长期价值来自方法复制与团队经营。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B7322-37DB-4211-887A-F8917F9F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我看好友邦，不只是因为它走过百年，而是因为它仍在为下一百年投入。</a:t>
            </a:r>
          </a:p>
        </p:txBody>
      </p:sp>
    </p:spTree>
    <p:extLst>
      <p:ext uri="{BB962C8B-B14F-4D97-AF65-F5344CB8AC3E}">
        <p14:creationId xmlns:p14="http://schemas.microsoft.com/office/powerpoint/2010/main" val="3375784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2AE67-B962-4439-9618-AE8E50F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WHAT YOU ARE JOINING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1290B-12A2-49FF-B041-AAD96675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加入友邦，得到的不只是一张工号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4B418-DE16-4CCA-9A73-F7801511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53c3e86a6486b"/>
          <a:srcRect xmlns:a="http://schemas.openxmlformats.org/drawingml/2006/main" l="0" t="704" r="0" b="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314325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A195B-FCE5-4D0A-8D90-B4CCE6F0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E30D5-6164-4FD3-8BB0-73752360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百年品牌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21BD3-5889-416C-9F09-ACCC4CC3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降低长期服务的信任成本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18AA0-AA83-42B8-A695-970E665B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70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5AF88-F462-46A1-A36E-8E86EF8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19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专业训练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7BD36-2037-4C5E-91DA-CE8E784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把知识、方法与服务标准系统化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05DA-6799-4F86-9532-8DCEB209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71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55D73-771E-4E57-8C3C-9DCC414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数字工具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F45A9-0BE4-40AD-97AE-8434BCFF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让流程效率支持顾问生产力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C393D-0C21-45BD-882A-A0987E7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48A55-1CAF-4093-BD5C-D4B3E54E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产品与生态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DF7DA-1B6A-46D1-A89A-2B3964A5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从保障到财富管理的多元解决方案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68CC2-0E30-40F4-9607-19B820F1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673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584E7-7EE1-4D39-AAF3-F71B7B1F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职业路径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0984C-DE14-4C12-B003-AF320D5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从个人顾问走向团队经营者</a:t>
            </a:r>
          </a:p>
        </p:txBody>
      </p:sp>
    </p:spTree>
    <p:extLst>
      <p:ext uri="{BB962C8B-B14F-4D97-AF65-F5344CB8AC3E}">
        <p14:creationId xmlns:p14="http://schemas.microsoft.com/office/powerpoint/2010/main" val="4538160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2EC53-DDB4-45E3-B845-059999F2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NEWCOMER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BC9E6-1B63-45A4-BCD9-5F9A6B10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新人补贴的作用，是让起步阶段更可持续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8DD53-30B8-470E-8B07-D88EE967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5B956-3CE2-4C85-8FC2-D03E19B2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月收入示例（万元）＝ 佣金 + 新人津贴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7334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8ad4f7ea3b483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6A9BE-D827-44BD-B2A2-DA681DB3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431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3.8 万/月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D95A6-A5D0-40C4-8751-2E72D2B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 张达成示例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CA2BE-CA5D-4DA1-97AF-7A1A68D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佣金 1.8 万</a:t>
            </a:r>
          </a:p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＋ 新人津贴 2.0 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325C4-6365-4F8E-AE82-261EE81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34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044E3-51DA-494E-B89C-1635B2D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每张 FYC 3,000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70008-DDFF-4B81-AEEF-5C0BE882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33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以上未计季度奖及其他利益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1ED04-6B19-46C5-A24C-5BBB365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572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F7B3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5E2F1-9453-449C-9C76-1BE62E10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达成示例，须满足新人津贴及基本法条件；不代表平均收入或收入承诺。</a:t>
            </a:r>
          </a:p>
        </p:txBody>
      </p:sp>
    </p:spTree>
    <p:extLst>
      <p:ext uri="{BB962C8B-B14F-4D97-AF65-F5344CB8AC3E}">
        <p14:creationId xmlns:p14="http://schemas.microsoft.com/office/powerpoint/2010/main" val="11321921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8A38C-A11F-4482-9EF1-046FDC3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2025 INCOME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C6826-8A0E-4D99-ADE8-6861057F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职级向上，收入曲线在主管阶段明显抬升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AF67B-7650-49D9-A144-93097C7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4B68-1E19-4EDA-8F27-B6E94EBE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各职级月均收入参考（万元/月）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382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cd8156fb4d429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74971-F1D7-4FE2-AAD7-84143707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3822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D5DE1-9E9E-4C71-A197-97C391B8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上海各职级均高于全国参考；M2 / M3 阶段的跃升，体现团队经营结果开始放大。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AA98B-6BA1-43FA-B01D-D260711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722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81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数据为 2025 年历史月均参考，不代表个人保证收入。</a:t>
            </a:r>
          </a:p>
        </p:txBody>
      </p:sp>
    </p:spTree>
    <p:extLst>
      <p:ext uri="{BB962C8B-B14F-4D97-AF65-F5344CB8AC3E}">
        <p14:creationId xmlns:p14="http://schemas.microsoft.com/office/powerpoint/2010/main" val="1962621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145C9-93D9-4135-8D3D-1F85F673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WHO 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EB4C-A2D3-4254-A201-6472264C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什么样的人，更适合认真了解这条路？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1BC41-F7F9-4D9B-B265-D74E5FE9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23622-598D-41E2-B0EB-FA26C0F7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2CFB3-F7AC-411E-8186-B0DF6A60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愿意长期服务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B4D7-D320-463A-BE87-1D0B624C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接受信任需要时间积累，不追求一次成交。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D24E7-BD28-4EEE-9059-4BB281F2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DF55E-07CA-4019-A168-870AACBA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B28FE-EC4E-4D39-8BEE-B6CE7784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愿意持续学习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025A9-BD43-49DB-969E-6E602FFC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愿意把金融、保障与沟通练成专业。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D1697-DA48-40DA-A9C7-0A2DE445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909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BCB97-00B9-45B5-A532-788DE983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2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7212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F1264-B8AE-4123-978A-E1B6A2D7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愿意自我管理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1D4B0-83A7-4406-B3E9-1ACDF769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766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没有人替你安排节奏，也没有人替你承担结果。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BF35D-4982-4D12-96C5-E77D6162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22880-F5A4-4B85-8906-3C9D1E18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EEB87-E766-4A38-BC08-78A0AA1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05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愿意帮助别人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B5F3F-7C6F-4105-8329-80F0CA2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053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未来的上限，取决于你能否让伙伴也成功。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4D6E6-3AA7-4256-A3A4-FA2AE50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749F0-5C91-4BF9-9C64-344216D5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如果你只想找一份“被安排好的工作”，这条路未必适合。</a:t>
            </a:r>
          </a:p>
        </p:txBody>
      </p:sp>
    </p:spTree>
    <p:extLst>
      <p:ext uri="{BB962C8B-B14F-4D97-AF65-F5344CB8AC3E}">
        <p14:creationId xmlns:p14="http://schemas.microsoft.com/office/powerpoint/2010/main" val="347985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93D85-8B60-483B-A3FE-120ADE88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THE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CF01F-5646-4C60-9AD9-1070C20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今晚不需要决定加入，只需要决定是否认真了解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B8E03-18EF-4E2E-8E93-BAF73512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D048F-AF7D-4325-A9BA-6C2493AE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5F4"/>
          </a:solidFill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9C319-521A-4D42-83F5-32CF123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8806B-07EC-4949-B476-56A0E52D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一次职业访谈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662E-2747-46BA-89A7-7EB5C21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把你的经历、期待与顾虑讲清楚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CDF45-965F-4181-A123-5EF96D1A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9750"/>
            <a:ext cx="31432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292D1-505F-47CA-A9D1-73C23E1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4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1F510-E6BE-4EDB-9A8E-3D0D8B35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一次能力评估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FFAD5-2BDC-4033-8844-D3F8D34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0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E0E4"/>
                </a:solidFill>
                <a:latin typeface="Microsoft YaHei"/>
                <a:ea typeface="Microsoft YaHei"/>
                <a:cs typeface="Microsoft YaHei"/>
              </a:rPr>
              <a:t>看专业服务、客户经营和自我管理的匹配度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DB557-2E0E-4141-8AEE-4D557AF2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31432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5F4"/>
          </a:solidFill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909A3-5478-4817-B011-044C478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7193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D7193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1CF64-CB44-47A1-A2AA-9E4FC63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38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一次团队旁听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996FE-9811-4E41-9F0D-1103613B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真实观察训练、工作节奏与团队文化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2FDAC-C7E6-464A-BF47-0B28B2EF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好的选择，不从冲动开始；从 </a:t>
            </a: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充分理解</a:t>
            </a:r>
            <a:r>
              <a:rPr sz="217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 开始。</a:t>
            </a:r>
          </a:p>
        </p:txBody>
      </p:sp>
    </p:spTree>
    <p:extLst>
      <p:ext uri="{BB962C8B-B14F-4D97-AF65-F5344CB8AC3E}">
        <p14:creationId xmlns:p14="http://schemas.microsoft.com/office/powerpoint/2010/main" val="6760364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b8c2aaf2e4dd0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91EA6-082D-4862-B76E-02FF6009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FE74A-D2B9-4F0A-BB01-8730E50E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66BF8-CA1E-4D07-B7A7-C32E8184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越过百年，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再望前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D6AF7-388B-448F-B320-9EFEF5F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88D58-A426-4DF8-8577-E83187FF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百年是背书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2151D-927A-4564-9E21-52AD25CA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增长是机会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D94AF-6E81-40F7-9FEF-FD85024A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组织是未来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719CB-25BB-4E41-8ACE-2A703EA2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rPr>
              <a:t>1919  →  2026  →  下一程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1E6A0-CEF7-48D8-89DE-32450CA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EB9C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45721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EB572-F96F-4BED-93CB-BD6C7A90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5F0C2-EF44-40CB-A340-91D63C10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附录：关键指标与口径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CAC2A-DD16-4EC2-A2A6-53CACCC6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D5F9B-B23E-48FE-8C64-D2925DF0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VONB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A2D4F-3561-4FCB-806B-8CC73016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新业务价值，衡量当期新业务预期创造的经济价值。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F6BD1-295C-46E0-B7E4-95D44C12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03736-51A8-4B5B-9EB6-F7B253E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OPAT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80FCF-B215-45EC-BF8E-12C0DE8C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税后营运溢利，反映核心经营盈利表现。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AD573-E493-4E07-AA53-DE7A83F3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59E24-5844-4B53-9B12-01F5CEC3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UFSG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AB593-5D44-4025-BD3C-9F5CDD6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基础自由盈余生成，反映经营现金创造能力。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AEE3B-F587-4C64-92D7-B8CF77E0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4F912-C5A4-4AE9-B7A6-E0B3822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5D696-B75E-4789-B9C5-0D132518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2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固定汇率口径，用于减少汇率变动对同比的影响。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013A2-5C0F-4CA5-A293-CC0D392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152F0-C509-453A-B51E-D67A903C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FYC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7E7FB-7DFA-4F5D-B7E1-7D595110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首年佣金口径，具体定义以当地正式基本法为准。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58416-F1C8-4C0D-BA63-8576D216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28646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41286-B471-4EFB-868F-2302C46B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SOURCES &amp; NOTICE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B752B-71AF-4E58-BCEF-CB6DA600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附录：来源与使用说明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7C8C7-5EF1-405C-9787-DFA853F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CA233-663D-4D59-888F-E5263DCE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公开来源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6C2F6-AF53-4519-B6B3-936578E9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AIA Group 2025 Annual Report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AIA 2025 Annual Results Press Release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AIA 2026 Q1 New Business Highlights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AD9DA-D12A-465D-AFF0-538AF2F3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用户提供资料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58FB7-F589-48DA-9693-77DAD5CE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旧版《越过百年再望前》PPT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《从增长版图到组织红利》网页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A5AEE-D352-477F-A861-8BB2D83F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4953000" cy="3810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F5F4"/>
          </a:solidFill>
          <a:ln xmlns:a="http://schemas.openxmlformats.org/drawingml/2006/main" w="9525">
            <a:solidFill>
              <a:srgbClr val="D9DE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8DA10-C322-4DFC-9941-B49B928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842E3-8B90-43AA-B8C9-8AD89F00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新人补贴与职级收入示例不构成承诺。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资格、发放、回溯及职级要求以正式基本法为准。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内部人力与趋势数据须按团队最新口径复核。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27D"/>
                </a:solidFill>
                <a:latin typeface="Microsoft YaHei"/>
                <a:ea typeface="Microsoft YaHei"/>
                <a:cs typeface="Microsoft YaHei"/>
              </a:rPr>
              <a:t>对外使用前，请完成当地合规审核。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36219-030C-47A5-ABF3-A0884CFB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193F"/>
                </a:solidFill>
                <a:latin typeface="Microsoft YaHei"/>
                <a:ea typeface="Microsoft YaHei"/>
                <a:cs typeface="Microsoft YaHei"/>
              </a:rPr>
              <a:t>本页为问答与合规备用，不计入 40 分钟主讲。</a:t>
            </a:r>
          </a:p>
        </p:txBody>
      </p:sp>
    </p:spTree>
    <p:extLst>
      <p:ext uri="{BB962C8B-B14F-4D97-AF65-F5344CB8AC3E}">
        <p14:creationId xmlns:p14="http://schemas.microsoft.com/office/powerpoint/2010/main" val="1934914085"/>
      </p:ext>
    </p:extLst>
  </p:cSld>
</p:sld>
</file>

<file path=ppt/theme/theme1.xml><?xml version="1.0" encoding="utf-8"?>
<a:theme xmlns:a="http://schemas.openxmlformats.org/drawingml/2006/main" name="ChatGPT">
  <a:themeElements>
    <a:clrScheme name="AIA Editorial">
      <a:dk1>
        <a:srgbClr val="000000"/>
      </a:dk1>
      <a:lt1>
        <a:srgbClr val="FFFFFF"/>
      </a:lt1>
      <a:dk2>
        <a:srgbClr val="17212B"/>
      </a:dk2>
      <a:lt2>
        <a:srgbClr val="D9DEDC"/>
      </a:lt2>
      <a:accent1>
        <a:srgbClr val="D7193F"/>
      </a:accent1>
      <a:accent2>
        <a:srgbClr val="17212B"/>
      </a:accent2>
      <a:accent3>
        <a:srgbClr val="F2A13B"/>
      </a:accent3>
      <a:accent4>
        <a:srgbClr val="1B8B73"/>
      </a:accent4>
      <a:accent5>
        <a:srgbClr val="7F9BC9"/>
      </a:accent5>
      <a:accent6>
        <a:srgbClr val="EF3154"/>
      </a:accent6>
      <a:hlink>
        <a:srgbClr val="D7193F"/>
      </a:hlink>
      <a:folHlink>
        <a:srgbClr val="EF315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2026-08-28T05:28:15.9080000Z</dcterms:created>
  <dcterms:modified xsi:type="dcterms:W3CDTF">2026-08-28T05:28:15.9080000Z</dcterms:modified>
</coreProperties>
</file>